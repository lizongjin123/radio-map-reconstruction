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45720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C5C"/>
    <a:srgbClr val="2F3437"/>
    <a:srgbClr val="D97706"/>
    <a:srgbClr val="0E7490"/>
    <a:srgbClr val="176B87"/>
    <a:srgbClr val="14919B"/>
    <a:srgbClr val="B45309"/>
    <a:srgbClr val="263238"/>
    <a:srgbClr val="EAF3F8"/>
    <a:srgbClr val="167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9" autoAdjust="0"/>
  </p:normalViewPr>
  <p:slideViewPr>
    <p:cSldViewPr snapToGrid="0">
      <p:cViewPr varScale="1">
        <p:scale>
          <a:sx n="20" d="100"/>
          <a:sy n="20" d="100"/>
        </p:scale>
        <p:origin x="226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4489452"/>
            <a:ext cx="34290000" cy="9550400"/>
          </a:xfrm>
        </p:spPr>
        <p:txBody>
          <a:bodyPr anchor="b"/>
          <a:lstStyle>
            <a:lvl1pPr algn="ctr"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4408152"/>
            <a:ext cx="34290000" cy="6623048"/>
          </a:xfrm>
        </p:spPr>
        <p:txBody>
          <a:bodyPr/>
          <a:lstStyle>
            <a:lvl1pPr marL="0" indent="0" algn="ctr">
              <a:buNone/>
              <a:defRPr sz="9000"/>
            </a:lvl1pPr>
            <a:lvl2pPr marL="1714500" indent="0" algn="ctr">
              <a:buNone/>
              <a:defRPr sz="7500"/>
            </a:lvl2pPr>
            <a:lvl3pPr marL="3429000" indent="0" algn="ctr">
              <a:buNone/>
              <a:defRPr sz="6750"/>
            </a:lvl3pPr>
            <a:lvl4pPr marL="5143500" indent="0" algn="ctr">
              <a:buNone/>
              <a:defRPr sz="6000"/>
            </a:lvl4pPr>
            <a:lvl5pPr marL="6858000" indent="0" algn="ctr">
              <a:buNone/>
              <a:defRPr sz="6000"/>
            </a:lvl5pPr>
            <a:lvl6pPr marL="8572500" indent="0" algn="ctr">
              <a:buNone/>
              <a:defRPr sz="6000"/>
            </a:lvl6pPr>
            <a:lvl7pPr marL="10287000" indent="0" algn="ctr">
              <a:buNone/>
              <a:defRPr sz="6000"/>
            </a:lvl7pPr>
            <a:lvl8pPr marL="12001500" indent="0" algn="ctr">
              <a:buNone/>
              <a:defRPr sz="6000"/>
            </a:lvl8pPr>
            <a:lvl9pPr marL="13716000" indent="0" algn="ctr">
              <a:buNone/>
              <a:defRPr sz="6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4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9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38" y="6838954"/>
            <a:ext cx="39433500" cy="11410948"/>
          </a:xfrm>
        </p:spPr>
        <p:txBody>
          <a:bodyPr anchor="b"/>
          <a:lstStyle>
            <a:lvl1pPr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38" y="18357854"/>
            <a:ext cx="39433500" cy="6000748"/>
          </a:xfrm>
        </p:spPr>
        <p:txBody>
          <a:bodyPr/>
          <a:lstStyle>
            <a:lvl1pPr marL="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1pPr>
            <a:lvl2pPr marL="1714500" indent="0">
              <a:buNone/>
              <a:defRPr sz="7500">
                <a:solidFill>
                  <a:schemeClr val="tx1">
                    <a:tint val="82000"/>
                  </a:schemeClr>
                </a:solidFill>
              </a:defRPr>
            </a:lvl2pPr>
            <a:lvl3pPr marL="3429000" indent="0">
              <a:buNone/>
              <a:defRPr sz="6750">
                <a:solidFill>
                  <a:schemeClr val="tx1">
                    <a:tint val="82000"/>
                  </a:schemeClr>
                </a:solidFill>
              </a:defRPr>
            </a:lvl3pPr>
            <a:lvl4pPr marL="5143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4pPr>
            <a:lvl5pPr marL="6858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5pPr>
            <a:lvl6pPr marL="8572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6pPr>
            <a:lvl7pPr marL="10287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7pPr>
            <a:lvl8pPr marL="12001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8pPr>
            <a:lvl9pPr marL="13716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6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1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1460502"/>
            <a:ext cx="394335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07" y="6724652"/>
            <a:ext cx="19341701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07" y="10020300"/>
            <a:ext cx="1934170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0" y="6724652"/>
            <a:ext cx="19436955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0" y="10020300"/>
            <a:ext cx="19436955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7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4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6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3949702"/>
            <a:ext cx="23145750" cy="19494500"/>
          </a:xfrm>
        </p:spPr>
        <p:txBody>
          <a:bodyPr/>
          <a:lstStyle>
            <a:lvl1pPr>
              <a:defRPr sz="12000"/>
            </a:lvl1pPr>
            <a:lvl2pPr>
              <a:defRPr sz="10500"/>
            </a:lvl2pPr>
            <a:lvl3pPr>
              <a:defRPr sz="9000"/>
            </a:lvl3pPr>
            <a:lvl4pPr>
              <a:defRPr sz="7500"/>
            </a:lvl4pPr>
            <a:lvl5pPr>
              <a:defRPr sz="7500"/>
            </a:lvl5pPr>
            <a:lvl6pPr>
              <a:defRPr sz="7500"/>
            </a:lvl6pPr>
            <a:lvl7pPr>
              <a:defRPr sz="7500"/>
            </a:lvl7pPr>
            <a:lvl8pPr>
              <a:defRPr sz="7500"/>
            </a:lvl8pPr>
            <a:lvl9pPr>
              <a:defRPr sz="7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0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3949702"/>
            <a:ext cx="23145750" cy="19494500"/>
          </a:xfrm>
        </p:spPr>
        <p:txBody>
          <a:bodyPr anchor="t"/>
          <a:lstStyle>
            <a:lvl1pPr marL="0" indent="0">
              <a:buNone/>
              <a:defRPr sz="12000"/>
            </a:lvl1pPr>
            <a:lvl2pPr marL="1714500" indent="0">
              <a:buNone/>
              <a:defRPr sz="10500"/>
            </a:lvl2pPr>
            <a:lvl3pPr marL="3429000" indent="0">
              <a:buNone/>
              <a:defRPr sz="9000"/>
            </a:lvl3pPr>
            <a:lvl4pPr marL="5143500" indent="0">
              <a:buNone/>
              <a:defRPr sz="7500"/>
            </a:lvl4pPr>
            <a:lvl5pPr marL="6858000" indent="0">
              <a:buNone/>
              <a:defRPr sz="7500"/>
            </a:lvl5pPr>
            <a:lvl6pPr marL="8572500" indent="0">
              <a:buNone/>
              <a:defRPr sz="7500"/>
            </a:lvl6pPr>
            <a:lvl7pPr marL="10287000" indent="0">
              <a:buNone/>
              <a:defRPr sz="7500"/>
            </a:lvl7pPr>
            <a:lvl8pPr marL="12001500" indent="0">
              <a:buNone/>
              <a:defRPr sz="7500"/>
            </a:lvl8pPr>
            <a:lvl9pPr marL="13716000" indent="0">
              <a:buNone/>
              <a:defRPr sz="7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2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9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5" y="1460500"/>
            <a:ext cx="985837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0" y="1460500"/>
            <a:ext cx="2900362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1460502"/>
            <a:ext cx="394335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7302500"/>
            <a:ext cx="394335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BA9C3-62E2-4E40-AAD5-C67EE55B43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25425402"/>
            <a:ext cx="15430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4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429000" rtl="0" eaLnBrk="1" latinLnBrk="0" hangingPunct="1">
        <a:lnSpc>
          <a:spcPct val="90000"/>
        </a:lnSpc>
        <a:spcBef>
          <a:spcPct val="0"/>
        </a:spcBef>
        <a:buNone/>
        <a:defRPr sz="16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0" indent="-857250" algn="l" defTabSz="3429000" rtl="0" eaLnBrk="1" latinLnBrk="0" hangingPunct="1">
        <a:lnSpc>
          <a:spcPct val="90000"/>
        </a:lnSpc>
        <a:spcBef>
          <a:spcPts val="3750"/>
        </a:spcBef>
        <a:buFont typeface="Arial" panose="020B0604020202020204" pitchFamily="34" charset="0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750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59B627-3738-4990-FD15-5AB6E5B92FD5}"/>
              </a:ext>
            </a:extLst>
          </p:cNvPr>
          <p:cNvGrpSpPr/>
          <p:nvPr/>
        </p:nvGrpSpPr>
        <p:grpSpPr>
          <a:xfrm>
            <a:off x="6942531" y="3177407"/>
            <a:ext cx="13738219" cy="11603392"/>
            <a:chOff x="6942531" y="3177407"/>
            <a:chExt cx="13738219" cy="1160339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658D007-751C-FEFB-BF76-E0BF1C5A655E}"/>
                </a:ext>
              </a:extLst>
            </p:cNvPr>
            <p:cNvSpPr/>
            <p:nvPr/>
          </p:nvSpPr>
          <p:spPr>
            <a:xfrm>
              <a:off x="12833874" y="13624526"/>
              <a:ext cx="2462981" cy="1156273"/>
            </a:xfrm>
            <a:prstGeom prst="roundRect">
              <a:avLst/>
            </a:prstGeom>
            <a:solidFill>
              <a:srgbClr val="E59A32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Bottleneck</a:t>
              </a:r>
            </a:p>
            <a:p>
              <a:pPr algn="ctr"/>
              <a:r>
                <a:rPr lang="en-US" altLang="zh-CN" sz="2770" dirty="0"/>
                <a:t>512×16×16</a:t>
              </a:r>
              <a:endParaRPr lang="en-US" sz="277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762C9A5-3786-B606-3515-21FB63706234}"/>
                </a:ext>
              </a:extLst>
            </p:cNvPr>
            <p:cNvSpPr/>
            <p:nvPr/>
          </p:nvSpPr>
          <p:spPr>
            <a:xfrm>
              <a:off x="9747774" y="5507504"/>
              <a:ext cx="2462981" cy="1156273"/>
            </a:xfrm>
            <a:prstGeom prst="roundRect">
              <a:avLst/>
            </a:prstGeom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 err="1"/>
                <a:t>ResBlock</a:t>
              </a:r>
              <a:endParaRPr lang="en-US" sz="2770" dirty="0"/>
            </a:p>
            <a:p>
              <a:pPr algn="ctr"/>
              <a:r>
                <a:rPr lang="en-US" sz="2770" dirty="0"/>
                <a:t>32</a:t>
              </a:r>
              <a:r>
                <a:rPr lang="en-US" altLang="zh-CN" sz="2770" dirty="0"/>
                <a:t>×256×256</a:t>
              </a:r>
              <a:endParaRPr lang="en-US" sz="277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746DF68-8F5E-8383-69CE-84D3BE533045}"/>
                </a:ext>
              </a:extLst>
            </p:cNvPr>
            <p:cNvSpPr/>
            <p:nvPr/>
          </p:nvSpPr>
          <p:spPr>
            <a:xfrm>
              <a:off x="9747774" y="7095169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Encoder1</a:t>
              </a:r>
            </a:p>
            <a:p>
              <a:pPr algn="ctr"/>
              <a:r>
                <a:rPr lang="en-US" altLang="zh-CN" sz="2770" dirty="0"/>
                <a:t>64×128×128</a:t>
              </a:r>
              <a:endParaRPr lang="en-US" sz="2770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F18315A-0321-213D-CCDF-E20E5F7A0FDD}"/>
                </a:ext>
              </a:extLst>
            </p:cNvPr>
            <p:cNvSpPr/>
            <p:nvPr/>
          </p:nvSpPr>
          <p:spPr>
            <a:xfrm>
              <a:off x="9747774" y="8697582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Encoder2</a:t>
              </a:r>
            </a:p>
            <a:p>
              <a:pPr algn="ctr"/>
              <a:r>
                <a:rPr lang="en-US" altLang="zh-CN" sz="2770" dirty="0"/>
                <a:t>128×64×64</a:t>
              </a:r>
              <a:endParaRPr lang="en-US" sz="2770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B1CD5E3-FAB7-8FE5-EC95-3739011B1A0F}"/>
                </a:ext>
              </a:extLst>
            </p:cNvPr>
            <p:cNvSpPr/>
            <p:nvPr/>
          </p:nvSpPr>
          <p:spPr>
            <a:xfrm>
              <a:off x="9747774" y="10299995"/>
              <a:ext cx="2462980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Encoder3</a:t>
              </a:r>
            </a:p>
            <a:p>
              <a:pPr algn="ctr"/>
              <a:r>
                <a:rPr lang="en-US" altLang="zh-CN" sz="2770" dirty="0"/>
                <a:t>256×32×32</a:t>
              </a:r>
              <a:endParaRPr lang="en-US" sz="277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5DDD7B7-EFCF-6E57-AD4A-C3F11647216D}"/>
                </a:ext>
              </a:extLst>
            </p:cNvPr>
            <p:cNvSpPr/>
            <p:nvPr/>
          </p:nvSpPr>
          <p:spPr>
            <a:xfrm>
              <a:off x="9747774" y="11902406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Encoder4</a:t>
              </a:r>
            </a:p>
            <a:p>
              <a:pPr algn="ctr"/>
              <a:r>
                <a:rPr lang="en-US" altLang="zh-CN" sz="2770" dirty="0"/>
                <a:t>512×16×16</a:t>
              </a:r>
              <a:endParaRPr lang="en-US" sz="277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3B2067C-C040-0F99-ED00-C7FC67A110EE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6658247"/>
              <a:ext cx="0" cy="442452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8CFD7DD-1759-65C7-4FBC-F3E59188FB00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8245912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5D66311-C533-B03A-45E2-523BAD7BC62A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9848325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09F9340-68CB-272A-B67C-90C4D706DF73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11450738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019B51D-160C-EA71-C4B9-900F6E435A87}"/>
                </a:ext>
              </a:extLst>
            </p:cNvPr>
            <p:cNvSpPr/>
            <p:nvPr/>
          </p:nvSpPr>
          <p:spPr>
            <a:xfrm>
              <a:off x="15919974" y="5507504"/>
              <a:ext cx="2462981" cy="1156273"/>
            </a:xfrm>
            <a:prstGeom prst="roundRect">
              <a:avLst/>
            </a:prstGeom>
            <a:solidFill>
              <a:srgbClr val="5266A8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CNN</a:t>
              </a:r>
            </a:p>
            <a:p>
              <a:pPr algn="ctr"/>
              <a:r>
                <a:rPr lang="en-US" sz="2770" dirty="0"/>
                <a:t>1</a:t>
              </a:r>
              <a:r>
                <a:rPr lang="en-US" altLang="zh-CN" sz="2770" dirty="0"/>
                <a:t>×256×256</a:t>
              </a:r>
              <a:endParaRPr lang="en-US" sz="2770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9643496-F24F-DEF2-84FA-F35569DEF956}"/>
                </a:ext>
              </a:extLst>
            </p:cNvPr>
            <p:cNvSpPr/>
            <p:nvPr/>
          </p:nvSpPr>
          <p:spPr>
            <a:xfrm>
              <a:off x="15919974" y="7106229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Decoder4</a:t>
              </a:r>
            </a:p>
            <a:p>
              <a:pPr algn="ctr"/>
              <a:r>
                <a:rPr lang="en-US" altLang="zh-CN" sz="2770" dirty="0"/>
                <a:t>64×128×128</a:t>
              </a:r>
              <a:endParaRPr lang="en-US" sz="2770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E7FA3A8-BC71-C8D8-F566-1832F78860BC}"/>
                </a:ext>
              </a:extLst>
            </p:cNvPr>
            <p:cNvSpPr/>
            <p:nvPr/>
          </p:nvSpPr>
          <p:spPr>
            <a:xfrm>
              <a:off x="15919974" y="8704954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Decoder3</a:t>
              </a:r>
            </a:p>
            <a:p>
              <a:pPr algn="ctr"/>
              <a:r>
                <a:rPr lang="en-US" altLang="zh-CN" sz="2770" dirty="0"/>
                <a:t>128×64×64</a:t>
              </a:r>
              <a:endParaRPr lang="en-US" sz="277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01B72B-D8C9-988A-CE31-DDD975B0B1F0}"/>
                </a:ext>
              </a:extLst>
            </p:cNvPr>
            <p:cNvSpPr/>
            <p:nvPr/>
          </p:nvSpPr>
          <p:spPr>
            <a:xfrm>
              <a:off x="15919975" y="10303679"/>
              <a:ext cx="2462980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Decoder2</a:t>
              </a:r>
            </a:p>
            <a:p>
              <a:pPr algn="ctr"/>
              <a:r>
                <a:rPr lang="en-US" altLang="zh-CN" sz="2770" dirty="0"/>
                <a:t>256×32×32</a:t>
              </a:r>
              <a:endParaRPr lang="en-US" sz="2770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2051E0F-C3FC-E1A1-7BAA-A5193C7F47C5}"/>
                </a:ext>
              </a:extLst>
            </p:cNvPr>
            <p:cNvSpPr/>
            <p:nvPr/>
          </p:nvSpPr>
          <p:spPr>
            <a:xfrm>
              <a:off x="15919974" y="11902406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Decoder1</a:t>
              </a:r>
            </a:p>
            <a:p>
              <a:pPr algn="ctr"/>
              <a:r>
                <a:rPr lang="en-US" altLang="zh-CN" sz="2770" dirty="0"/>
                <a:t>512×16×16</a:t>
              </a:r>
              <a:endParaRPr lang="en-US" sz="277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42977B-1B22-6283-987C-E8DBBC0423B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6663777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9A1680C-CCDD-268A-DA04-48977EF681A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8247754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287A2E5-B9CC-9971-1DBF-CA0C36FA7E9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9861227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013238F-1101-E6C6-D61F-8E4DF5DA8A8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11459952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8910A8F6-7195-4E13-EE1A-BDBDF2203E3C}"/>
                </a:ext>
              </a:extLst>
            </p:cNvPr>
            <p:cNvCxnSpPr>
              <a:stCxn id="20" idx="2"/>
              <a:endCxn id="21" idx="1"/>
            </p:cNvCxnSpPr>
            <p:nvPr/>
          </p:nvCxnSpPr>
          <p:spPr>
            <a:xfrm rot="16200000" flipH="1">
              <a:off x="11334577" y="12703366"/>
              <a:ext cx="1143984" cy="1854609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79D1BE7-6228-3D8B-4BC4-12ADFD83FEC5}"/>
                </a:ext>
              </a:extLst>
            </p:cNvPr>
            <p:cNvCxnSpPr>
              <a:cxnSpLocks/>
              <a:stCxn id="21" idx="3"/>
              <a:endCxn id="26" idx="2"/>
            </p:cNvCxnSpPr>
            <p:nvPr/>
          </p:nvCxnSpPr>
          <p:spPr>
            <a:xfrm flipV="1">
              <a:off x="15296855" y="13058679"/>
              <a:ext cx="1854610" cy="1143984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57F07D8-8F4F-B13B-754E-AFA6FEA3F9DA}"/>
                </a:ext>
              </a:extLst>
            </p:cNvPr>
            <p:cNvCxnSpPr>
              <a:stCxn id="20" idx="3"/>
              <a:endCxn id="26" idx="1"/>
            </p:cNvCxnSpPr>
            <p:nvPr/>
          </p:nvCxnSpPr>
          <p:spPr>
            <a:xfrm>
              <a:off x="12210755" y="12480543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E38F242-0485-DE60-0054-7AA409B11259}"/>
                </a:ext>
              </a:extLst>
            </p:cNvPr>
            <p:cNvCxnSpPr/>
            <p:nvPr/>
          </p:nvCxnSpPr>
          <p:spPr>
            <a:xfrm>
              <a:off x="12210753" y="10878131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D0EEA6A-ABAC-D4CB-3FE3-27D09E5A6978}"/>
                </a:ext>
              </a:extLst>
            </p:cNvPr>
            <p:cNvCxnSpPr/>
            <p:nvPr/>
          </p:nvCxnSpPr>
          <p:spPr>
            <a:xfrm>
              <a:off x="12210754" y="9275718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B6D47B4-04E6-2011-1AC0-CAE60F1D0443}"/>
                </a:ext>
              </a:extLst>
            </p:cNvPr>
            <p:cNvCxnSpPr/>
            <p:nvPr/>
          </p:nvCxnSpPr>
          <p:spPr>
            <a:xfrm>
              <a:off x="12210754" y="7684365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491CCB5-AB85-EFEC-2E93-D0A4B8A2CFDD}"/>
                </a:ext>
              </a:extLst>
            </p:cNvPr>
            <p:cNvCxnSpPr/>
            <p:nvPr/>
          </p:nvCxnSpPr>
          <p:spPr>
            <a:xfrm>
              <a:off x="12210752" y="6085640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58F297-0164-CEC0-799D-35C54468F236}"/>
                </a:ext>
              </a:extLst>
            </p:cNvPr>
            <p:cNvSpPr txBox="1"/>
            <p:nvPr/>
          </p:nvSpPr>
          <p:spPr>
            <a:xfrm>
              <a:off x="12968268" y="5500132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78896FF7-A696-1F27-CF76-2FAD06C10940}"/>
                </a:ext>
              </a:extLst>
            </p:cNvPr>
            <p:cNvCxnSpPr>
              <a:cxnSpLocks/>
              <a:stCxn id="103" idx="3"/>
              <a:endCxn id="8" idx="0"/>
            </p:cNvCxnSpPr>
            <p:nvPr/>
          </p:nvCxnSpPr>
          <p:spPr>
            <a:xfrm>
              <a:off x="9093540" y="4410489"/>
              <a:ext cx="1885725" cy="1097015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40C12B5-E80B-2FCC-B3F6-597FD387197A}"/>
                </a:ext>
              </a:extLst>
            </p:cNvPr>
            <p:cNvSpPr txBox="1"/>
            <p:nvPr/>
          </p:nvSpPr>
          <p:spPr>
            <a:xfrm>
              <a:off x="12968268" y="7120977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139DCE6-ED10-D476-E457-487D6AFEA05D}"/>
                </a:ext>
              </a:extLst>
            </p:cNvPr>
            <p:cNvSpPr txBox="1"/>
            <p:nvPr/>
          </p:nvSpPr>
          <p:spPr>
            <a:xfrm>
              <a:off x="12968268" y="8719701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74E929-D4DE-2BBB-89F4-C5F300AAA7DA}"/>
                </a:ext>
              </a:extLst>
            </p:cNvPr>
            <p:cNvSpPr txBox="1"/>
            <p:nvPr/>
          </p:nvSpPr>
          <p:spPr>
            <a:xfrm>
              <a:off x="12968268" y="10351223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87762A2-F363-C31E-CDC1-EC02EEDBCAA1}"/>
                </a:ext>
              </a:extLst>
            </p:cNvPr>
            <p:cNvSpPr txBox="1"/>
            <p:nvPr/>
          </p:nvSpPr>
          <p:spPr>
            <a:xfrm>
              <a:off x="12968268" y="11949947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6EDCFDC-58A5-444D-60D3-393E84E8FCB3}"/>
                </a:ext>
              </a:extLst>
            </p:cNvPr>
            <p:cNvGrpSpPr/>
            <p:nvPr/>
          </p:nvGrpSpPr>
          <p:grpSpPr>
            <a:xfrm>
              <a:off x="6942531" y="3177407"/>
              <a:ext cx="2151009" cy="2147482"/>
              <a:chOff x="3960955" y="5881915"/>
              <a:chExt cx="2151009" cy="2147482"/>
            </a:xfrm>
          </p:grpSpPr>
          <p:pic>
            <p:nvPicPr>
              <p:cNvPr id="105" name="Picture 104" descr="A colorful dots on a black background&#10;&#10;Description automatically generated">
                <a:extLst>
                  <a:ext uri="{FF2B5EF4-FFF2-40B4-BE49-F238E27FC236}">
                    <a16:creationId xmlns:a16="http://schemas.microsoft.com/office/drawing/2014/main" id="{EB2C7843-B592-84C5-8E11-8E88FC90C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60955" y="5881915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107" name="Picture 106" descr="A black and white speckled background&#10;&#10;Description automatically generated">
                <a:extLst>
                  <a:ext uri="{FF2B5EF4-FFF2-40B4-BE49-F238E27FC236}">
                    <a16:creationId xmlns:a16="http://schemas.microsoft.com/office/drawing/2014/main" id="{B4F202AD-EA3B-7678-FFF1-2B7E984AE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8358" y="5988142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109" name="Picture 108" descr="A map of a city&#10;&#10;Description automatically generated">
                <a:extLst>
                  <a:ext uri="{FF2B5EF4-FFF2-40B4-BE49-F238E27FC236}">
                    <a16:creationId xmlns:a16="http://schemas.microsoft.com/office/drawing/2014/main" id="{7F68C620-1047-B982-1ACF-82AAFADBD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761" y="6094369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103" name="Picture 102" descr="A black and white image of a grid&#10;&#10;Description automatically generated with medium confidence">
                <a:extLst>
                  <a:ext uri="{FF2B5EF4-FFF2-40B4-BE49-F238E27FC236}">
                    <a16:creationId xmlns:a16="http://schemas.microsoft.com/office/drawing/2014/main" id="{AFFF8F49-1746-4DC7-04F2-20291270E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83164" y="6200597"/>
                <a:ext cx="1828800" cy="1828800"/>
              </a:xfrm>
              <a:prstGeom prst="rect">
                <a:avLst/>
              </a:prstGeom>
            </p:spPr>
          </p:pic>
        </p:grpSp>
        <p:pic>
          <p:nvPicPr>
            <p:cNvPr id="116" name="Picture 115" descr="A colorful image of a building&#10;&#10;Description automatically generated with medium confidence">
              <a:extLst>
                <a:ext uri="{FF2B5EF4-FFF2-40B4-BE49-F238E27FC236}">
                  <a16:creationId xmlns:a16="http://schemas.microsoft.com/office/drawing/2014/main" id="{749793FC-BCA2-D16D-1927-43F8F471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51950" y="3496089"/>
              <a:ext cx="1828800" cy="1828800"/>
            </a:xfrm>
            <a:prstGeom prst="rect">
              <a:avLst/>
            </a:prstGeom>
          </p:spPr>
        </p:pic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5A791787-1AAA-DA55-6465-57F1D0D2AD0B}"/>
                </a:ext>
              </a:extLst>
            </p:cNvPr>
            <p:cNvCxnSpPr>
              <a:cxnSpLocks/>
              <a:stCxn id="22" idx="0"/>
              <a:endCxn id="116" idx="1"/>
            </p:cNvCxnSpPr>
            <p:nvPr/>
          </p:nvCxnSpPr>
          <p:spPr>
            <a:xfrm rot="5400000" flipH="1" flipV="1">
              <a:off x="17453200" y="4108755"/>
              <a:ext cx="1097015" cy="1700485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912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16508B-01C5-0E60-A0B2-1E418B5D60F2}"/>
              </a:ext>
            </a:extLst>
          </p:cNvPr>
          <p:cNvGrpSpPr/>
          <p:nvPr/>
        </p:nvGrpSpPr>
        <p:grpSpPr>
          <a:xfrm>
            <a:off x="8992731" y="4820199"/>
            <a:ext cx="13497194" cy="11316960"/>
            <a:chOff x="8992731" y="4820199"/>
            <a:chExt cx="13497194" cy="1131696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073B442-FD38-7E71-7E91-E33E5CD4B7C9}"/>
                </a:ext>
              </a:extLst>
            </p:cNvPr>
            <p:cNvSpPr/>
            <p:nvPr/>
          </p:nvSpPr>
          <p:spPr>
            <a:xfrm>
              <a:off x="14647434" y="14980886"/>
              <a:ext cx="2462981" cy="1156273"/>
            </a:xfrm>
            <a:prstGeom prst="roundRect">
              <a:avLst/>
            </a:prstGeom>
            <a:solidFill>
              <a:srgbClr val="E59A32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Bottleneck</a:t>
              </a:r>
            </a:p>
            <a:p>
              <a:pPr algn="ctr"/>
              <a:r>
                <a:rPr lang="en-US" altLang="zh-CN" sz="2770" dirty="0"/>
                <a:t>256×16×16</a:t>
              </a:r>
              <a:endParaRPr lang="en-US" sz="2770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1AAA3E5-8C2C-5F4C-38E5-B15B566EF939}"/>
                </a:ext>
              </a:extLst>
            </p:cNvPr>
            <p:cNvSpPr/>
            <p:nvPr/>
          </p:nvSpPr>
          <p:spPr>
            <a:xfrm>
              <a:off x="11561334" y="6863864"/>
              <a:ext cx="2462981" cy="1156273"/>
            </a:xfrm>
            <a:prstGeom prst="roundRect">
              <a:avLst/>
            </a:prstGeom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 err="1"/>
                <a:t>ResBlock</a:t>
              </a:r>
              <a:endParaRPr lang="en-US" sz="2770" dirty="0"/>
            </a:p>
            <a:p>
              <a:pPr algn="ctr"/>
              <a:r>
                <a:rPr lang="en-US" altLang="zh-CN" sz="2770" dirty="0"/>
                <a:t>16×256×256</a:t>
              </a:r>
              <a:endParaRPr lang="en-US" sz="277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277498-B908-2D94-7D68-518940A34E8E}"/>
                </a:ext>
              </a:extLst>
            </p:cNvPr>
            <p:cNvSpPr/>
            <p:nvPr/>
          </p:nvSpPr>
          <p:spPr>
            <a:xfrm>
              <a:off x="11561334" y="8451529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Encoder1</a:t>
              </a:r>
            </a:p>
            <a:p>
              <a:pPr algn="ctr"/>
              <a:r>
                <a:rPr lang="en-US" altLang="zh-CN" sz="2770" dirty="0"/>
                <a:t>32×128×128</a:t>
              </a:r>
              <a:endParaRPr lang="en-US" sz="277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FB15062-1A16-42C5-C055-751D62481FF9}"/>
                </a:ext>
              </a:extLst>
            </p:cNvPr>
            <p:cNvSpPr/>
            <p:nvPr/>
          </p:nvSpPr>
          <p:spPr>
            <a:xfrm>
              <a:off x="11561334" y="10053942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Encoder2</a:t>
              </a:r>
            </a:p>
            <a:p>
              <a:pPr algn="ctr"/>
              <a:r>
                <a:rPr lang="en-US" altLang="zh-CN" sz="2770" dirty="0"/>
                <a:t>64×64×64</a:t>
              </a:r>
              <a:endParaRPr lang="en-US" sz="2770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6785A65-BD3A-FA0B-AE59-20418403B834}"/>
                </a:ext>
              </a:extLst>
            </p:cNvPr>
            <p:cNvSpPr/>
            <p:nvPr/>
          </p:nvSpPr>
          <p:spPr>
            <a:xfrm>
              <a:off x="11561334" y="11656355"/>
              <a:ext cx="2462980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Encoder3</a:t>
              </a:r>
            </a:p>
            <a:p>
              <a:pPr algn="ctr"/>
              <a:r>
                <a:rPr lang="en-US" altLang="zh-CN" sz="2770" dirty="0"/>
                <a:t>128×32×32</a:t>
              </a:r>
              <a:endParaRPr lang="en-US" sz="277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4725720-960E-B743-79A9-3D6D84C20626}"/>
                </a:ext>
              </a:extLst>
            </p:cNvPr>
            <p:cNvSpPr/>
            <p:nvPr/>
          </p:nvSpPr>
          <p:spPr>
            <a:xfrm>
              <a:off x="11561334" y="13258766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Encoder4</a:t>
              </a:r>
            </a:p>
            <a:p>
              <a:pPr algn="ctr"/>
              <a:r>
                <a:rPr lang="en-US" altLang="zh-CN" sz="2770" dirty="0"/>
                <a:t>256×16×16</a:t>
              </a:r>
              <a:endParaRPr lang="en-US" sz="277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BBC57EE-C889-CD3C-D13E-BB12E2B1E288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824" y="8014607"/>
              <a:ext cx="0" cy="442452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188BA45-379E-B7FD-B0C1-C8DC0AE49EED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824" y="9602272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DC1129C-02CE-3E05-BE46-5CE84E361588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824" y="11204685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7855FE2-1985-3B5F-F709-82214FE857E5}"/>
                </a:ext>
              </a:extLst>
            </p:cNvPr>
            <p:cNvCxnSpPr>
              <a:cxnSpLocks/>
            </p:cNvCxnSpPr>
            <p:nvPr/>
          </p:nvCxnSpPr>
          <p:spPr>
            <a:xfrm>
              <a:off x="12792824" y="12807098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4A88248-89FD-B7EF-A52F-7ECF63F6B744}"/>
                </a:ext>
              </a:extLst>
            </p:cNvPr>
            <p:cNvSpPr/>
            <p:nvPr/>
          </p:nvSpPr>
          <p:spPr>
            <a:xfrm>
              <a:off x="17733534" y="6863864"/>
              <a:ext cx="2462981" cy="1156273"/>
            </a:xfrm>
            <a:prstGeom prst="roundRect">
              <a:avLst/>
            </a:prstGeom>
            <a:solidFill>
              <a:srgbClr val="5266A8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CNN</a:t>
              </a:r>
            </a:p>
            <a:p>
              <a:pPr algn="ctr"/>
              <a:r>
                <a:rPr lang="en-US" sz="2770" dirty="0"/>
                <a:t>1</a:t>
              </a:r>
              <a:r>
                <a:rPr lang="en-US" altLang="zh-CN" sz="2770" dirty="0"/>
                <a:t>×256×256</a:t>
              </a:r>
              <a:endParaRPr lang="en-US" sz="277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B09938F-9283-FD3E-1411-BD2CCA6F5449}"/>
                </a:ext>
              </a:extLst>
            </p:cNvPr>
            <p:cNvSpPr/>
            <p:nvPr/>
          </p:nvSpPr>
          <p:spPr>
            <a:xfrm>
              <a:off x="17733534" y="8462589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Decoder4</a:t>
              </a:r>
            </a:p>
            <a:p>
              <a:pPr algn="ctr"/>
              <a:r>
                <a:rPr lang="en-US" altLang="zh-CN" sz="2770" dirty="0"/>
                <a:t>32×128×128</a:t>
              </a:r>
              <a:endParaRPr lang="en-US" sz="2770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82CDD23-2068-0485-29FA-FF86D15B9A5E}"/>
                </a:ext>
              </a:extLst>
            </p:cNvPr>
            <p:cNvSpPr/>
            <p:nvPr/>
          </p:nvSpPr>
          <p:spPr>
            <a:xfrm>
              <a:off x="17733534" y="10061314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Decoder3</a:t>
              </a:r>
            </a:p>
            <a:p>
              <a:pPr algn="ctr"/>
              <a:r>
                <a:rPr lang="en-US" altLang="zh-CN" sz="2770" dirty="0"/>
                <a:t>64×64×64</a:t>
              </a:r>
              <a:endParaRPr lang="en-US" sz="2770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B6268CB-D0AA-E9FB-40AE-E4308EA55D5F}"/>
                </a:ext>
              </a:extLst>
            </p:cNvPr>
            <p:cNvSpPr/>
            <p:nvPr/>
          </p:nvSpPr>
          <p:spPr>
            <a:xfrm>
              <a:off x="17733535" y="11660039"/>
              <a:ext cx="2462980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Decoder2</a:t>
              </a:r>
            </a:p>
            <a:p>
              <a:pPr algn="ctr"/>
              <a:r>
                <a:rPr lang="en-US" altLang="zh-CN" sz="2770" dirty="0"/>
                <a:t>128×32×32</a:t>
              </a:r>
              <a:endParaRPr lang="en-US" sz="277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9CCB7A2-E4D8-D8D3-6AB9-D8365FCFA4D2}"/>
                </a:ext>
              </a:extLst>
            </p:cNvPr>
            <p:cNvSpPr/>
            <p:nvPr/>
          </p:nvSpPr>
          <p:spPr>
            <a:xfrm>
              <a:off x="17733534" y="13258766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Decoder1</a:t>
              </a:r>
            </a:p>
            <a:p>
              <a:pPr algn="ctr"/>
              <a:r>
                <a:rPr lang="en-US" altLang="zh-CN" sz="2770" dirty="0"/>
                <a:t>256×16×16</a:t>
              </a:r>
              <a:endParaRPr lang="en-US" sz="277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1F8BE6-A8ED-C6C7-CEE3-9645A197DA7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965024" y="8020137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4253E89-743B-84B9-53BA-AAA371B0173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965024" y="9604114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F845723-D2AE-F9D6-3AD6-90719B597C2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965024" y="11217587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63DD14F-CC12-997F-B8D2-BB87E9F4DF8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965024" y="12816312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7CDD71A-E956-8AA3-5C1A-7E27EC968A3D}"/>
                </a:ext>
              </a:extLst>
            </p:cNvPr>
            <p:cNvCxnSpPr>
              <a:stCxn id="11" idx="2"/>
              <a:endCxn id="6" idx="1"/>
            </p:cNvCxnSpPr>
            <p:nvPr/>
          </p:nvCxnSpPr>
          <p:spPr>
            <a:xfrm rot="16200000" flipH="1">
              <a:off x="13148137" y="14059726"/>
              <a:ext cx="1143984" cy="1854609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C24C53F1-C5B6-35E0-C7F3-6DA637A60511}"/>
                </a:ext>
              </a:extLst>
            </p:cNvPr>
            <p:cNvCxnSpPr>
              <a:cxnSpLocks/>
              <a:stCxn id="6" idx="3"/>
              <a:endCxn id="20" idx="2"/>
            </p:cNvCxnSpPr>
            <p:nvPr/>
          </p:nvCxnSpPr>
          <p:spPr>
            <a:xfrm flipV="1">
              <a:off x="17110415" y="14415039"/>
              <a:ext cx="1854610" cy="1143984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DB6D63B-6F1E-11D0-102C-D9F5091F6F51}"/>
                </a:ext>
              </a:extLst>
            </p:cNvPr>
            <p:cNvCxnSpPr>
              <a:stCxn id="11" idx="3"/>
              <a:endCxn id="20" idx="1"/>
            </p:cNvCxnSpPr>
            <p:nvPr/>
          </p:nvCxnSpPr>
          <p:spPr>
            <a:xfrm>
              <a:off x="14024315" y="13836903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AC90089-67A3-B75E-4B24-DD1D1531C826}"/>
                </a:ext>
              </a:extLst>
            </p:cNvPr>
            <p:cNvCxnSpPr/>
            <p:nvPr/>
          </p:nvCxnSpPr>
          <p:spPr>
            <a:xfrm>
              <a:off x="14024313" y="12234491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AF3EE3A-34C1-08E7-2795-A15778917015}"/>
                </a:ext>
              </a:extLst>
            </p:cNvPr>
            <p:cNvCxnSpPr/>
            <p:nvPr/>
          </p:nvCxnSpPr>
          <p:spPr>
            <a:xfrm>
              <a:off x="14024314" y="10632078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5264B92-E11C-15B1-0122-E3474F0E7498}"/>
                </a:ext>
              </a:extLst>
            </p:cNvPr>
            <p:cNvCxnSpPr/>
            <p:nvPr/>
          </p:nvCxnSpPr>
          <p:spPr>
            <a:xfrm>
              <a:off x="14024314" y="9040725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AB8F102-75A9-6562-E6D7-B55C561B99BC}"/>
                </a:ext>
              </a:extLst>
            </p:cNvPr>
            <p:cNvCxnSpPr/>
            <p:nvPr/>
          </p:nvCxnSpPr>
          <p:spPr>
            <a:xfrm>
              <a:off x="14024312" y="7442000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D2F06F-FA42-CBD5-2149-800C682A6DB2}"/>
                </a:ext>
              </a:extLst>
            </p:cNvPr>
            <p:cNvSpPr txBox="1"/>
            <p:nvPr/>
          </p:nvSpPr>
          <p:spPr>
            <a:xfrm>
              <a:off x="14781828" y="6856492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F550849F-CBDD-DCA7-6A3F-9A957EB636EF}"/>
                </a:ext>
              </a:extLst>
            </p:cNvPr>
            <p:cNvCxnSpPr>
              <a:cxnSpLocks/>
              <a:stCxn id="46" idx="3"/>
              <a:endCxn id="7" idx="0"/>
            </p:cNvCxnSpPr>
            <p:nvPr/>
          </p:nvCxnSpPr>
          <p:spPr>
            <a:xfrm>
              <a:off x="10900418" y="5799101"/>
              <a:ext cx="1892407" cy="1064763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BAB035-8DE8-6BD9-B148-EAC2F5760E87}"/>
                </a:ext>
              </a:extLst>
            </p:cNvPr>
            <p:cNvSpPr txBox="1"/>
            <p:nvPr/>
          </p:nvSpPr>
          <p:spPr>
            <a:xfrm>
              <a:off x="14781828" y="8477337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66BD2F4-6741-A869-CCAC-87E73DA6FACD}"/>
                </a:ext>
              </a:extLst>
            </p:cNvPr>
            <p:cNvSpPr txBox="1"/>
            <p:nvPr/>
          </p:nvSpPr>
          <p:spPr>
            <a:xfrm>
              <a:off x="14781828" y="10076061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BF893D-9FE0-D7FE-63D2-411C64FFF302}"/>
                </a:ext>
              </a:extLst>
            </p:cNvPr>
            <p:cNvSpPr txBox="1"/>
            <p:nvPr/>
          </p:nvSpPr>
          <p:spPr>
            <a:xfrm>
              <a:off x="14781828" y="11707583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88DACB-C144-4894-9BC8-1B1F6F817F62}"/>
                </a:ext>
              </a:extLst>
            </p:cNvPr>
            <p:cNvSpPr txBox="1"/>
            <p:nvPr/>
          </p:nvSpPr>
          <p:spPr>
            <a:xfrm>
              <a:off x="14781828" y="13306307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D6BC57F1-1486-6057-C83C-0C0F1F970919}"/>
                </a:ext>
              </a:extLst>
            </p:cNvPr>
            <p:cNvCxnSpPr>
              <a:cxnSpLocks/>
              <a:stCxn id="16" idx="0"/>
              <a:endCxn id="52" idx="1"/>
            </p:cNvCxnSpPr>
            <p:nvPr/>
          </p:nvCxnSpPr>
          <p:spPr>
            <a:xfrm rot="5400000" flipH="1" flipV="1">
              <a:off x="19279526" y="5482265"/>
              <a:ext cx="1067098" cy="1696100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BB2CF9B-4A36-EBB5-4110-8F22CF132AA2}"/>
                </a:ext>
              </a:extLst>
            </p:cNvPr>
            <p:cNvGrpSpPr/>
            <p:nvPr/>
          </p:nvGrpSpPr>
          <p:grpSpPr>
            <a:xfrm>
              <a:off x="8992731" y="4820199"/>
              <a:ext cx="1907687" cy="1893302"/>
              <a:chOff x="25604210" y="10801090"/>
              <a:chExt cx="1907687" cy="1893302"/>
            </a:xfrm>
          </p:grpSpPr>
          <p:pic>
            <p:nvPicPr>
              <p:cNvPr id="48" name="Picture 47" descr="A map of a city&#10;&#10;Description automatically generated">
                <a:extLst>
                  <a:ext uri="{FF2B5EF4-FFF2-40B4-BE49-F238E27FC236}">
                    <a16:creationId xmlns:a16="http://schemas.microsoft.com/office/drawing/2014/main" id="{216BA7CB-A2FC-6084-8907-E938C3002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604210" y="10801090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46" name="Picture 45" descr="A black and white image of a grid&#10;&#10;Description automatically generated with medium confidence">
                <a:extLst>
                  <a:ext uri="{FF2B5EF4-FFF2-40B4-BE49-F238E27FC236}">
                    <a16:creationId xmlns:a16="http://schemas.microsoft.com/office/drawing/2014/main" id="{9F942E84-917F-11EF-4697-50B08EF68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683097" y="10865592"/>
                <a:ext cx="1828800" cy="1828800"/>
              </a:xfrm>
              <a:prstGeom prst="rect">
                <a:avLst/>
              </a:prstGeom>
            </p:spPr>
          </p:pic>
        </p:grpSp>
        <p:pic>
          <p:nvPicPr>
            <p:cNvPr id="52" name="Picture 51" descr="A close-up of several different colored objects&#10;&#10;Description automatically generated">
              <a:extLst>
                <a:ext uri="{FF2B5EF4-FFF2-40B4-BE49-F238E27FC236}">
                  <a16:creationId xmlns:a16="http://schemas.microsoft.com/office/drawing/2014/main" id="{9D3588A4-E5F2-F585-5FA6-356436162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61125" y="4882366"/>
              <a:ext cx="1828800" cy="1828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562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6C488E-272A-F98F-24B2-4E77A5AD1823}"/>
              </a:ext>
            </a:extLst>
          </p:cNvPr>
          <p:cNvGrpSpPr/>
          <p:nvPr/>
        </p:nvGrpSpPr>
        <p:grpSpPr>
          <a:xfrm>
            <a:off x="11273381" y="6157880"/>
            <a:ext cx="18589156" cy="4112396"/>
            <a:chOff x="11273381" y="6157880"/>
            <a:chExt cx="18589156" cy="411239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7783C88-F30B-13A3-9FCF-39D8D4801BA6}"/>
                </a:ext>
              </a:extLst>
            </p:cNvPr>
            <p:cNvSpPr/>
            <p:nvPr/>
          </p:nvSpPr>
          <p:spPr>
            <a:xfrm>
              <a:off x="11273381" y="7615553"/>
              <a:ext cx="2462981" cy="1156273"/>
            </a:xfrm>
            <a:prstGeom prst="roundRect">
              <a:avLst/>
            </a:prstGeom>
            <a:solidFill>
              <a:srgbClr val="EAF3F8"/>
            </a:solidFill>
            <a:ln w="63500">
              <a:solidFill>
                <a:srgbClr val="176B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770" dirty="0">
                  <a:solidFill>
                    <a:srgbClr val="263238"/>
                  </a:solidFill>
                </a:rPr>
                <a:t>采样器</a:t>
              </a:r>
              <a:endParaRPr lang="en-US" sz="2770" dirty="0">
                <a:solidFill>
                  <a:srgbClr val="263238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661A55B-EFA6-7978-A319-44E2F4938902}"/>
                </a:ext>
              </a:extLst>
            </p:cNvPr>
            <p:cNvSpPr/>
            <p:nvPr/>
          </p:nvSpPr>
          <p:spPr>
            <a:xfrm>
              <a:off x="17298216" y="7616571"/>
              <a:ext cx="2462981" cy="1156273"/>
            </a:xfrm>
            <a:prstGeom prst="roundRect">
              <a:avLst/>
            </a:prstGeom>
            <a:solidFill>
              <a:srgbClr val="EAF3F8"/>
            </a:solidFill>
            <a:ln w="63500">
              <a:solidFill>
                <a:srgbClr val="176B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>
                  <a:solidFill>
                    <a:srgbClr val="263238"/>
                  </a:solidFill>
                </a:rPr>
                <a:t>Top-K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C9DCB69-FFBE-CD45-EB91-96CC3D2E7383}"/>
                </a:ext>
              </a:extLst>
            </p:cNvPr>
            <p:cNvSpPr/>
            <p:nvPr/>
          </p:nvSpPr>
          <p:spPr>
            <a:xfrm>
              <a:off x="27399556" y="7615552"/>
              <a:ext cx="2462981" cy="1156273"/>
            </a:xfrm>
            <a:prstGeom prst="roundRect">
              <a:avLst/>
            </a:prstGeom>
            <a:solidFill>
              <a:srgbClr val="EAF3F8"/>
            </a:solidFill>
            <a:ln w="63500">
              <a:solidFill>
                <a:srgbClr val="176B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770" dirty="0">
                  <a:solidFill>
                    <a:srgbClr val="263238"/>
                  </a:solidFill>
                </a:rPr>
                <a:t>重建器</a:t>
              </a:r>
              <a:endParaRPr lang="en-US" sz="2770" dirty="0">
                <a:solidFill>
                  <a:srgbClr val="263238"/>
                </a:solidFill>
              </a:endParaRPr>
            </a:p>
          </p:txBody>
        </p:sp>
        <p:pic>
          <p:nvPicPr>
            <p:cNvPr id="9" name="Picture 8" descr="A close-up of several different colored objects&#10;&#10;Description automatically generated">
              <a:extLst>
                <a:ext uri="{FF2B5EF4-FFF2-40B4-BE49-F238E27FC236}">
                  <a16:creationId xmlns:a16="http://schemas.microsoft.com/office/drawing/2014/main" id="{53B2007F-EF21-93CC-FB8A-42A373BCB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02327" y="7279290"/>
              <a:ext cx="1828800" cy="1828800"/>
            </a:xfrm>
            <a:prstGeom prst="rect">
              <a:avLst/>
            </a:prstGeom>
          </p:spPr>
        </p:pic>
        <p:pic>
          <p:nvPicPr>
            <p:cNvPr id="11" name="Picture 10" descr="A colorful image of a building&#10;&#10;Description automatically generated with medium confidence">
              <a:extLst>
                <a:ext uri="{FF2B5EF4-FFF2-40B4-BE49-F238E27FC236}">
                  <a16:creationId xmlns:a16="http://schemas.microsoft.com/office/drawing/2014/main" id="{FF27F9F3-510B-37B4-35BB-82031C8C1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86688" y="6157880"/>
              <a:ext cx="1828800" cy="1828800"/>
            </a:xfrm>
            <a:prstGeom prst="rect">
              <a:avLst/>
            </a:prstGeom>
          </p:spPr>
        </p:pic>
        <p:pic>
          <p:nvPicPr>
            <p:cNvPr id="13" name="Picture 12" descr="White particles in the sky with Gallery Arcturus in the background&#10;&#10;Description automatically generated">
              <a:extLst>
                <a:ext uri="{FF2B5EF4-FFF2-40B4-BE49-F238E27FC236}">
                  <a16:creationId xmlns:a16="http://schemas.microsoft.com/office/drawing/2014/main" id="{BA4CE79C-DC5D-0BF3-7F31-E6D9EDE2A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86688" y="8441476"/>
              <a:ext cx="1828800" cy="1828800"/>
            </a:xfrm>
            <a:prstGeom prst="rect">
              <a:avLst/>
            </a:prstGeom>
          </p:spPr>
        </p:pic>
        <p:pic>
          <p:nvPicPr>
            <p:cNvPr id="15" name="Picture 14" descr="A black background with colorful dots&#10;&#10;Description automatically generated">
              <a:extLst>
                <a:ext uri="{FF2B5EF4-FFF2-40B4-BE49-F238E27FC236}">
                  <a16:creationId xmlns:a16="http://schemas.microsoft.com/office/drawing/2014/main" id="{0964E0D1-A37B-3E25-9842-6199B9F7B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64069" y="7279291"/>
              <a:ext cx="1828800" cy="1828800"/>
            </a:xfrm>
            <a:prstGeom prst="rect">
              <a:avLst/>
            </a:prstGeom>
          </p:spPr>
        </p:pic>
        <p:sp>
          <p:nvSpPr>
            <p:cNvPr id="16" name="Flowchart: Summing Junction 15">
              <a:extLst>
                <a:ext uri="{FF2B5EF4-FFF2-40B4-BE49-F238E27FC236}">
                  <a16:creationId xmlns:a16="http://schemas.microsoft.com/office/drawing/2014/main" id="{9E97DD37-6491-DF41-0A63-5C9288411FB8}"/>
                </a:ext>
              </a:extLst>
            </p:cNvPr>
            <p:cNvSpPr/>
            <p:nvPr/>
          </p:nvSpPr>
          <p:spPr>
            <a:xfrm>
              <a:off x="23324176" y="7986680"/>
              <a:ext cx="445345" cy="416053"/>
            </a:xfrm>
            <a:prstGeom prst="flowChartSummingJunction">
              <a:avLst/>
            </a:prstGeom>
            <a:solidFill>
              <a:srgbClr val="14919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9613808F-45FC-D334-27D2-4780F6382DD4}"/>
                </a:ext>
              </a:extLst>
            </p:cNvPr>
            <p:cNvCxnSpPr>
              <a:stCxn id="9" idx="3"/>
              <a:endCxn id="6" idx="1"/>
            </p:cNvCxnSpPr>
            <p:nvPr/>
          </p:nvCxnSpPr>
          <p:spPr>
            <a:xfrm>
              <a:off x="16431127" y="8193690"/>
              <a:ext cx="867089" cy="1018"/>
            </a:xfrm>
            <a:prstGeom prst="bentConnector3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FBB5801B-B6A2-FF3F-7631-60B8DE86B3B2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>
              <a:off x="19761197" y="8194708"/>
              <a:ext cx="1325491" cy="1161168"/>
            </a:xfrm>
            <a:prstGeom prst="bentConnector3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74CC7E4D-EBFD-CE0A-066C-ACF590279ECE}"/>
                </a:ext>
              </a:extLst>
            </p:cNvPr>
            <p:cNvCxnSpPr>
              <a:stCxn id="11" idx="3"/>
              <a:endCxn id="16" idx="0"/>
            </p:cNvCxnSpPr>
            <p:nvPr/>
          </p:nvCxnSpPr>
          <p:spPr>
            <a:xfrm>
              <a:off x="22915488" y="7072280"/>
              <a:ext cx="631361" cy="914400"/>
            </a:xfrm>
            <a:prstGeom prst="bentConnector2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11C870E8-3EEF-3A8F-AC1B-0704B1045924}"/>
                </a:ext>
              </a:extLst>
            </p:cNvPr>
            <p:cNvCxnSpPr>
              <a:stCxn id="13" idx="3"/>
              <a:endCxn id="16" idx="4"/>
            </p:cNvCxnSpPr>
            <p:nvPr/>
          </p:nvCxnSpPr>
          <p:spPr>
            <a:xfrm flipV="1">
              <a:off x="22915488" y="8402733"/>
              <a:ext cx="631361" cy="953143"/>
            </a:xfrm>
            <a:prstGeom prst="bentConnector2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8E01A2-1A65-F5B0-1C4A-AE02E83B3679}"/>
                </a:ext>
              </a:extLst>
            </p:cNvPr>
            <p:cNvCxnSpPr>
              <a:stCxn id="16" idx="6"/>
              <a:endCxn id="15" idx="1"/>
            </p:cNvCxnSpPr>
            <p:nvPr/>
          </p:nvCxnSpPr>
          <p:spPr>
            <a:xfrm flipV="1">
              <a:off x="23769521" y="8193691"/>
              <a:ext cx="694548" cy="1016"/>
            </a:xfrm>
            <a:prstGeom prst="straightConnector1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30466E74-031D-C5B2-D001-8C9EC63D41C6}"/>
                </a:ext>
              </a:extLst>
            </p:cNvPr>
            <p:cNvCxnSpPr>
              <a:stCxn id="5" idx="3"/>
              <a:endCxn id="9" idx="1"/>
            </p:cNvCxnSpPr>
            <p:nvPr/>
          </p:nvCxnSpPr>
          <p:spPr>
            <a:xfrm>
              <a:off x="13736362" y="8193690"/>
              <a:ext cx="865965" cy="0"/>
            </a:xfrm>
            <a:prstGeom prst="straightConnector1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DD5B0F8-EC0D-63C5-1F5F-CE44D557565A}"/>
                </a:ext>
              </a:extLst>
            </p:cNvPr>
            <p:cNvCxnSpPr>
              <a:stCxn id="15" idx="3"/>
              <a:endCxn id="8" idx="1"/>
            </p:cNvCxnSpPr>
            <p:nvPr/>
          </p:nvCxnSpPr>
          <p:spPr>
            <a:xfrm flipV="1">
              <a:off x="26292869" y="8193689"/>
              <a:ext cx="1106687" cy="2"/>
            </a:xfrm>
            <a:prstGeom prst="straightConnector1">
              <a:avLst/>
            </a:prstGeom>
            <a:ln w="63500">
              <a:solidFill>
                <a:srgbClr val="1677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9BA2DCE-EEC9-1B84-7ACD-A534348137AE}"/>
              </a:ext>
            </a:extLst>
          </p:cNvPr>
          <p:cNvGrpSpPr/>
          <p:nvPr/>
        </p:nvGrpSpPr>
        <p:grpSpPr>
          <a:xfrm>
            <a:off x="14901780" y="13428862"/>
            <a:ext cx="11814255" cy="1287468"/>
            <a:chOff x="14901780" y="13428862"/>
            <a:chExt cx="11814255" cy="128746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793948-0BF5-053E-AE62-23A07E3CAB3D}"/>
                </a:ext>
              </a:extLst>
            </p:cNvPr>
            <p:cNvSpPr/>
            <p:nvPr/>
          </p:nvSpPr>
          <p:spPr>
            <a:xfrm>
              <a:off x="19577417" y="13494460"/>
              <a:ext cx="2462981" cy="1156273"/>
            </a:xfrm>
            <a:prstGeom prst="roundRect">
              <a:avLst/>
            </a:prstGeom>
            <a:solidFill>
              <a:srgbClr val="EAF3F8"/>
            </a:solidFill>
            <a:ln w="63500">
              <a:solidFill>
                <a:srgbClr val="176B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>
                  <a:solidFill>
                    <a:srgbClr val="263238"/>
                  </a:solidFill>
                </a:rPr>
                <a:t>Soft Top-K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BCCBD30-8158-EDC5-234F-113AECD0518F}"/>
                    </a:ext>
                  </a:extLst>
                </p:cNvPr>
                <p:cNvSpPr txBox="1"/>
                <p:nvPr/>
              </p:nvSpPr>
              <p:spPr>
                <a:xfrm>
                  <a:off x="22742866" y="13428862"/>
                  <a:ext cx="807720" cy="1287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oMath>
                    </m:oMathPara>
                  </a14:m>
                  <a:endParaRPr lang="en-US" sz="4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BCCBD30-8158-EDC5-234F-113AECD05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42866" y="13428862"/>
                  <a:ext cx="807720" cy="1287468"/>
                </a:xfrm>
                <a:prstGeom prst="rect">
                  <a:avLst/>
                </a:prstGeom>
                <a:blipFill>
                  <a:blip r:embed="rId6"/>
                  <a:stretch>
                    <a:fillRect l="-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E07E4C6-19BC-D175-3F98-31E563048288}"/>
                    </a:ext>
                  </a:extLst>
                </p:cNvPr>
                <p:cNvSpPr txBox="1"/>
                <p:nvPr/>
              </p:nvSpPr>
              <p:spPr>
                <a:xfrm>
                  <a:off x="18067229" y="13428862"/>
                  <a:ext cx="807720" cy="1287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den>
                        </m:f>
                      </m:oMath>
                    </m:oMathPara>
                  </a14:m>
                  <a:endParaRPr lang="en-US" sz="4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E07E4C6-19BC-D175-3F98-31E563048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67229" y="13428862"/>
                  <a:ext cx="807720" cy="12874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E92C805-DC35-02C3-0442-739EB9F5765A}"/>
                </a:ext>
              </a:extLst>
            </p:cNvPr>
            <p:cNvSpPr/>
            <p:nvPr/>
          </p:nvSpPr>
          <p:spPr>
            <a:xfrm>
              <a:off x="24253054" y="13494460"/>
              <a:ext cx="2462981" cy="1156273"/>
            </a:xfrm>
            <a:prstGeom prst="roundRect">
              <a:avLst/>
            </a:prstGeom>
            <a:solidFill>
              <a:srgbClr val="EAF3F8"/>
            </a:solidFill>
            <a:ln w="63500">
              <a:solidFill>
                <a:srgbClr val="176B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770" dirty="0">
                  <a:solidFill>
                    <a:srgbClr val="263238"/>
                  </a:solidFill>
                </a:rPr>
                <a:t>重建器</a:t>
              </a:r>
              <a:endParaRPr lang="en-US" sz="2770" dirty="0">
                <a:solidFill>
                  <a:srgbClr val="263238"/>
                </a:solidFill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88F37DEF-18B2-A557-6EFC-BAE0AC00035E}"/>
                </a:ext>
              </a:extLst>
            </p:cNvPr>
            <p:cNvSpPr/>
            <p:nvPr/>
          </p:nvSpPr>
          <p:spPr>
            <a:xfrm>
              <a:off x="14901780" y="13494460"/>
              <a:ext cx="2462981" cy="1156273"/>
            </a:xfrm>
            <a:prstGeom prst="roundRect">
              <a:avLst/>
            </a:prstGeom>
            <a:solidFill>
              <a:srgbClr val="EAF3F8"/>
            </a:solidFill>
            <a:ln w="63500">
              <a:solidFill>
                <a:srgbClr val="176B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770" dirty="0">
                  <a:solidFill>
                    <a:srgbClr val="263238"/>
                  </a:solidFill>
                </a:rPr>
                <a:t>采样器</a:t>
              </a:r>
              <a:endParaRPr lang="en-US" sz="2770" dirty="0">
                <a:solidFill>
                  <a:srgbClr val="263238"/>
                </a:solidFill>
              </a:endParaRP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D14990E-C2B9-8237-E675-4E1468C27E6E}"/>
                </a:ext>
              </a:extLst>
            </p:cNvPr>
            <p:cNvCxnSpPr>
              <a:stCxn id="71" idx="1"/>
              <a:endCxn id="55" idx="3"/>
            </p:cNvCxnSpPr>
            <p:nvPr/>
          </p:nvCxnSpPr>
          <p:spPr>
            <a:xfrm flipH="1" flipV="1">
              <a:off x="23550586" y="14072596"/>
              <a:ext cx="702468" cy="1"/>
            </a:xfrm>
            <a:prstGeom prst="straightConnector1">
              <a:avLst/>
            </a:prstGeom>
            <a:ln w="63500">
              <a:solidFill>
                <a:srgbClr val="D9770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E62CE54-07B6-BD9B-761D-61DE075DBE9F}"/>
                </a:ext>
              </a:extLst>
            </p:cNvPr>
            <p:cNvCxnSpPr>
              <a:stCxn id="55" idx="1"/>
              <a:endCxn id="7" idx="3"/>
            </p:cNvCxnSpPr>
            <p:nvPr/>
          </p:nvCxnSpPr>
          <p:spPr>
            <a:xfrm flipH="1">
              <a:off x="22040398" y="14072596"/>
              <a:ext cx="702468" cy="1"/>
            </a:xfrm>
            <a:prstGeom prst="straightConnector1">
              <a:avLst/>
            </a:prstGeom>
            <a:ln w="63500">
              <a:solidFill>
                <a:srgbClr val="D9770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5A3B7D3-CA92-B99A-B461-5F164316DC6F}"/>
                </a:ext>
              </a:extLst>
            </p:cNvPr>
            <p:cNvCxnSpPr>
              <a:stCxn id="7" idx="1"/>
            </p:cNvCxnSpPr>
            <p:nvPr/>
          </p:nvCxnSpPr>
          <p:spPr>
            <a:xfrm flipH="1" flipV="1">
              <a:off x="18779800" y="14072596"/>
              <a:ext cx="797617" cy="1"/>
            </a:xfrm>
            <a:prstGeom prst="straightConnector1">
              <a:avLst/>
            </a:prstGeom>
            <a:ln w="63500">
              <a:solidFill>
                <a:srgbClr val="D9770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79B7E1D-BBB0-57EF-7B9D-308C445F6568}"/>
                </a:ext>
              </a:extLst>
            </p:cNvPr>
            <p:cNvCxnSpPr>
              <a:stCxn id="56" idx="1"/>
              <a:endCxn id="89" idx="3"/>
            </p:cNvCxnSpPr>
            <p:nvPr/>
          </p:nvCxnSpPr>
          <p:spPr>
            <a:xfrm flipH="1">
              <a:off x="17364761" y="14072596"/>
              <a:ext cx="702468" cy="1"/>
            </a:xfrm>
            <a:prstGeom prst="straightConnector1">
              <a:avLst/>
            </a:prstGeom>
            <a:ln w="63500">
              <a:solidFill>
                <a:srgbClr val="D9770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82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2208B09B-4CED-8E1C-2057-DFB786850D9E}"/>
              </a:ext>
            </a:extLst>
          </p:cNvPr>
          <p:cNvSpPr txBox="1"/>
          <p:nvPr/>
        </p:nvSpPr>
        <p:spPr>
          <a:xfrm>
            <a:off x="26822400" y="1657398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C4AEAA7-2D16-F93B-681A-841AECFA2B57}"/>
              </a:ext>
            </a:extLst>
          </p:cNvPr>
          <p:cNvGrpSpPr/>
          <p:nvPr/>
        </p:nvGrpSpPr>
        <p:grpSpPr>
          <a:xfrm>
            <a:off x="9484926" y="10581021"/>
            <a:ext cx="23211888" cy="5615531"/>
            <a:chOff x="9484926" y="10581021"/>
            <a:chExt cx="23211888" cy="561553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2094B19-FB50-FD7D-50E5-43A10F1B05DF}"/>
                </a:ext>
              </a:extLst>
            </p:cNvPr>
            <p:cNvGrpSpPr/>
            <p:nvPr/>
          </p:nvGrpSpPr>
          <p:grpSpPr>
            <a:xfrm>
              <a:off x="9484926" y="13764880"/>
              <a:ext cx="1936203" cy="1935028"/>
              <a:chOff x="8142075" y="10728507"/>
              <a:chExt cx="1936203" cy="1935028"/>
            </a:xfrm>
          </p:grpSpPr>
          <p:pic>
            <p:nvPicPr>
              <p:cNvPr id="7" name="Picture 6" descr="A map of a city&#10;&#10;Description automatically generated">
                <a:extLst>
                  <a:ext uri="{FF2B5EF4-FFF2-40B4-BE49-F238E27FC236}">
                    <a16:creationId xmlns:a16="http://schemas.microsoft.com/office/drawing/2014/main" id="{21CFC00A-FDF5-908D-08C3-ED62A502AA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2075" y="10728507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8" name="Picture 7" descr="A black and white image of a grid&#10;&#10;Description automatically generated with medium confidence">
                <a:extLst>
                  <a:ext uri="{FF2B5EF4-FFF2-40B4-BE49-F238E27FC236}">
                    <a16:creationId xmlns:a16="http://schemas.microsoft.com/office/drawing/2014/main" id="{9A7A3A58-AEA8-A815-2CAD-42CAAD1D01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49478" y="10834735"/>
                <a:ext cx="1828800" cy="1828800"/>
              </a:xfrm>
              <a:prstGeom prst="rect">
                <a:avLst/>
              </a:prstGeom>
            </p:spPr>
          </p:pic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AE75CE1-5083-E037-63C4-D84D2400E267}"/>
                </a:ext>
              </a:extLst>
            </p:cNvPr>
            <p:cNvSpPr/>
            <p:nvPr/>
          </p:nvSpPr>
          <p:spPr>
            <a:xfrm>
              <a:off x="12155194" y="14254239"/>
              <a:ext cx="2293620" cy="1062537"/>
            </a:xfrm>
            <a:prstGeom prst="roundRect">
              <a:avLst/>
            </a:prstGeom>
            <a:solidFill>
              <a:srgbClr val="176B87"/>
            </a:solidFill>
            <a:ln w="50800">
              <a:solidFill>
                <a:srgbClr val="0F4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粗糙重建器</a:t>
              </a:r>
              <a:endParaRPr lang="en-US" dirty="0"/>
            </a:p>
          </p:txBody>
        </p:sp>
        <p:pic>
          <p:nvPicPr>
            <p:cNvPr id="12" name="Picture 11" descr="A multicolored image of a city&#10;&#10;Description automatically generated with medium confidence">
              <a:extLst>
                <a:ext uri="{FF2B5EF4-FFF2-40B4-BE49-F238E27FC236}">
                  <a16:creationId xmlns:a16="http://schemas.microsoft.com/office/drawing/2014/main" id="{D13E0D23-EC4D-58A4-0F05-749F999EC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82879" y="13871107"/>
              <a:ext cx="1828800" cy="18288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ABD6A09-21F8-B9EF-D7C1-6B97DECBAD44}"/>
                    </a:ext>
                  </a:extLst>
                </p:cNvPr>
                <p:cNvSpPr txBox="1"/>
                <p:nvPr/>
              </p:nvSpPr>
              <p:spPr>
                <a:xfrm>
                  <a:off x="23364711" y="14832720"/>
                  <a:ext cx="470706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4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ABD6A09-21F8-B9EF-D7C1-6B97DECBAD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4711" y="14832720"/>
                  <a:ext cx="470706" cy="6771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AC7EF7-7BA8-158C-ED64-F2A1497C532F}"/>
                    </a:ext>
                  </a:extLst>
                </p:cNvPr>
                <p:cNvSpPr txBox="1"/>
                <p:nvPr/>
              </p:nvSpPr>
              <p:spPr>
                <a:xfrm>
                  <a:off x="23107558" y="10743931"/>
                  <a:ext cx="1455719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4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AC7EF7-7BA8-158C-ED64-F2A1497C5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07558" y="10743931"/>
                  <a:ext cx="1455719" cy="6771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Picture 22" descr="A purple and white background&#10;&#10;Description automatically generated">
              <a:extLst>
                <a:ext uri="{FF2B5EF4-FFF2-40B4-BE49-F238E27FC236}">
                  <a16:creationId xmlns:a16="http://schemas.microsoft.com/office/drawing/2014/main" id="{0FD118F7-600D-B0B3-C2C4-FB2D11E27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73430" y="13871107"/>
              <a:ext cx="1828800" cy="1828800"/>
            </a:xfrm>
            <a:prstGeom prst="rect">
              <a:avLst/>
            </a:prstGeom>
          </p:spPr>
        </p:pic>
        <p:sp>
          <p:nvSpPr>
            <p:cNvPr id="25" name="Flowchart: Or 24">
              <a:extLst>
                <a:ext uri="{FF2B5EF4-FFF2-40B4-BE49-F238E27FC236}">
                  <a16:creationId xmlns:a16="http://schemas.microsoft.com/office/drawing/2014/main" id="{041D04BE-7CB9-1D2C-1BB7-F2489AC60CD5}"/>
                </a:ext>
              </a:extLst>
            </p:cNvPr>
            <p:cNvSpPr/>
            <p:nvPr/>
          </p:nvSpPr>
          <p:spPr>
            <a:xfrm>
              <a:off x="24712116" y="12869683"/>
              <a:ext cx="393539" cy="381966"/>
            </a:xfrm>
            <a:prstGeom prst="flowChartOr">
              <a:avLst/>
            </a:prstGeom>
            <a:solidFill>
              <a:srgbClr val="0E74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 descr="A rainbow colored background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004C58EE-303E-DBCD-F727-2C4F7AC03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73430" y="10581021"/>
              <a:ext cx="1828800" cy="1828800"/>
            </a:xfrm>
            <a:prstGeom prst="rect">
              <a:avLst/>
            </a:prstGeom>
          </p:spPr>
        </p:pic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FFC9422-E3A8-1618-7FCA-15BE49516616}"/>
                </a:ext>
              </a:extLst>
            </p:cNvPr>
            <p:cNvSpPr/>
            <p:nvPr/>
          </p:nvSpPr>
          <p:spPr>
            <a:xfrm>
              <a:off x="27990644" y="12529396"/>
              <a:ext cx="2293620" cy="1062537"/>
            </a:xfrm>
            <a:prstGeom prst="roundRect">
              <a:avLst/>
            </a:prstGeom>
            <a:solidFill>
              <a:srgbClr val="176B87"/>
            </a:solidFill>
            <a:ln w="50800">
              <a:solidFill>
                <a:srgbClr val="0F4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加权</a:t>
              </a:r>
              <a:r>
                <a:rPr lang="en-US" altLang="zh-CN" dirty="0"/>
                <a:t>K-means</a:t>
              </a:r>
              <a:endParaRPr lang="en-US" dirty="0"/>
            </a:p>
          </p:txBody>
        </p:sp>
        <p:pic>
          <p:nvPicPr>
            <p:cNvPr id="30" name="Picture 29" descr="A blue and purple background with white lines&#10;&#10;Description automatically generated">
              <a:extLst>
                <a:ext uri="{FF2B5EF4-FFF2-40B4-BE49-F238E27FC236}">
                  <a16:creationId xmlns:a16="http://schemas.microsoft.com/office/drawing/2014/main" id="{BFB864C0-4055-E52C-1837-07BEFFEDE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8094" y="12146265"/>
              <a:ext cx="1828800" cy="1828800"/>
            </a:xfrm>
            <a:prstGeom prst="rect">
              <a:avLst/>
            </a:prstGeom>
          </p:spPr>
        </p:pic>
        <p:pic>
          <p:nvPicPr>
            <p:cNvPr id="32" name="Picture 31" descr="White particles in the sky with Gallery Arcturus in the background&#10;&#10;Description automatically generated">
              <a:extLst>
                <a:ext uri="{FF2B5EF4-FFF2-40B4-BE49-F238E27FC236}">
                  <a16:creationId xmlns:a16="http://schemas.microsoft.com/office/drawing/2014/main" id="{FB7DDB53-1F1E-D4BE-964D-2FE64FA5D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68014" y="12146265"/>
              <a:ext cx="1828800" cy="1828800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39023DE-C011-3F07-37BC-AE7E82E559D0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>
              <a:off x="11421129" y="14785508"/>
              <a:ext cx="734065" cy="0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4648F01-D20A-4414-0A6B-6A8E51655F60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 flipV="1">
              <a:off x="14448814" y="14785507"/>
              <a:ext cx="734065" cy="1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3017675-F748-4F08-B0B7-615A4C4F4A7E}"/>
                </a:ext>
              </a:extLst>
            </p:cNvPr>
            <p:cNvCxnSpPr>
              <a:cxnSpLocks/>
              <a:stCxn id="12" idx="3"/>
              <a:endCxn id="49" idx="1"/>
            </p:cNvCxnSpPr>
            <p:nvPr/>
          </p:nvCxnSpPr>
          <p:spPr>
            <a:xfrm>
              <a:off x="17011679" y="14785507"/>
              <a:ext cx="734065" cy="0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1212B249-8E5A-12B5-2499-1CCC80012C8F}"/>
                </a:ext>
              </a:extLst>
            </p:cNvPr>
            <p:cNvCxnSpPr>
              <a:stCxn id="27" idx="3"/>
              <a:endCxn id="25" idx="0"/>
            </p:cNvCxnSpPr>
            <p:nvPr/>
          </p:nvCxnSpPr>
          <p:spPr>
            <a:xfrm>
              <a:off x="22602230" y="11495421"/>
              <a:ext cx="2306656" cy="1374262"/>
            </a:xfrm>
            <a:prstGeom prst="bentConnector2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F7BF0AEF-41B9-90DD-12B1-19EBA4D0EF9F}"/>
                </a:ext>
              </a:extLst>
            </p:cNvPr>
            <p:cNvCxnSpPr>
              <a:stCxn id="23" idx="3"/>
              <a:endCxn id="25" idx="4"/>
            </p:cNvCxnSpPr>
            <p:nvPr/>
          </p:nvCxnSpPr>
          <p:spPr>
            <a:xfrm flipV="1">
              <a:off x="22602230" y="13251649"/>
              <a:ext cx="2306656" cy="1533858"/>
            </a:xfrm>
            <a:prstGeom prst="bentConnector2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BED512-9FAD-CF51-3DE5-E576094D4B35}"/>
                </a:ext>
              </a:extLst>
            </p:cNvPr>
            <p:cNvSpPr txBox="1"/>
            <p:nvPr/>
          </p:nvSpPr>
          <p:spPr>
            <a:xfrm>
              <a:off x="15312449" y="1582722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2F3437"/>
                  </a:solidFill>
                </a:rPr>
                <a:t>粗糙信道地图</a:t>
              </a:r>
              <a:endParaRPr lang="en-US" dirty="0">
                <a:solidFill>
                  <a:srgbClr val="2F3437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F4EE3E-A0C0-A983-DC04-583DEAA7752F}"/>
                </a:ext>
              </a:extLst>
            </p:cNvPr>
            <p:cNvSpPr txBox="1"/>
            <p:nvPr/>
          </p:nvSpPr>
          <p:spPr>
            <a:xfrm>
              <a:off x="20902999" y="15827220"/>
              <a:ext cx="15620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2F3437"/>
                  </a:solidFill>
                </a:defRPr>
              </a:lvl1pPr>
            </a:lstStyle>
            <a:p>
              <a:r>
                <a:rPr lang="zh-CN" altLang="en-US" dirty="0"/>
                <a:t>归一化梯度图</a:t>
              </a:r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DA3F92F-B27F-00C3-9EDA-1F2FE5DEAEB8}"/>
                </a:ext>
              </a:extLst>
            </p:cNvPr>
            <p:cNvSpPr txBox="1"/>
            <p:nvPr/>
          </p:nvSpPr>
          <p:spPr>
            <a:xfrm>
              <a:off x="20552936" y="12484203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2F3437"/>
                  </a:solidFill>
                </a:defRPr>
              </a:lvl1pPr>
            </a:lstStyle>
            <a:p>
              <a:r>
                <a:rPr lang="zh-CN" altLang="en-US" dirty="0"/>
                <a:t>归一化发射机距离图</a:t>
              </a:r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9A390B4-8E8B-6207-3E2E-90D5AB08C660}"/>
                </a:ext>
              </a:extLst>
            </p:cNvPr>
            <p:cNvCxnSpPr>
              <a:stCxn id="25" idx="6"/>
              <a:endCxn id="30" idx="1"/>
            </p:cNvCxnSpPr>
            <p:nvPr/>
          </p:nvCxnSpPr>
          <p:spPr>
            <a:xfrm flipV="1">
              <a:off x="25105655" y="13060665"/>
              <a:ext cx="472439" cy="1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D954800-E8DF-E06E-BC3F-800FFBE3B3DB}"/>
                </a:ext>
              </a:extLst>
            </p:cNvPr>
            <p:cNvSpPr txBox="1"/>
            <p:nvPr/>
          </p:nvSpPr>
          <p:spPr>
            <a:xfrm>
              <a:off x="25823080" y="1406957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2F3437"/>
                  </a:solidFill>
                </a:defRPr>
              </a:lvl1pPr>
            </a:lstStyle>
            <a:p>
              <a:r>
                <a:rPr lang="zh-CN" altLang="en-US" dirty="0"/>
                <a:t>采样分数图</a:t>
              </a:r>
              <a:endParaRPr lang="en-US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E0FB293-8271-AA8D-AD67-687DA10BA385}"/>
                </a:ext>
              </a:extLst>
            </p:cNvPr>
            <p:cNvCxnSpPr>
              <a:stCxn id="30" idx="3"/>
              <a:endCxn id="28" idx="1"/>
            </p:cNvCxnSpPr>
            <p:nvPr/>
          </p:nvCxnSpPr>
          <p:spPr>
            <a:xfrm>
              <a:off x="27406894" y="13060665"/>
              <a:ext cx="583750" cy="0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6C81FFB-950F-6282-9C20-B1702D94CDF3}"/>
                </a:ext>
              </a:extLst>
            </p:cNvPr>
            <p:cNvCxnSpPr>
              <a:stCxn id="28" idx="3"/>
              <a:endCxn id="32" idx="1"/>
            </p:cNvCxnSpPr>
            <p:nvPr/>
          </p:nvCxnSpPr>
          <p:spPr>
            <a:xfrm>
              <a:off x="30284264" y="13060665"/>
              <a:ext cx="583750" cy="0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45DEAF9-C8DC-8178-2646-99DBA873226B}"/>
                </a:ext>
              </a:extLst>
            </p:cNvPr>
            <p:cNvSpPr txBox="1"/>
            <p:nvPr/>
          </p:nvSpPr>
          <p:spPr>
            <a:xfrm>
              <a:off x="30997584" y="1406957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2F3437"/>
                  </a:solidFill>
                </a:defRPr>
              </a:lvl1pPr>
            </a:lstStyle>
            <a:p>
              <a:r>
                <a:rPr lang="zh-CN" altLang="en-US" dirty="0"/>
                <a:t>采样点掩码图</a:t>
              </a:r>
              <a:endParaRPr lang="en-US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67D6E5C-14B3-49F1-CA6B-F1FE0FA920DF}"/>
                </a:ext>
              </a:extLst>
            </p:cNvPr>
            <p:cNvSpPr/>
            <p:nvPr/>
          </p:nvSpPr>
          <p:spPr>
            <a:xfrm>
              <a:off x="17745744" y="14254238"/>
              <a:ext cx="2293620" cy="1062537"/>
            </a:xfrm>
            <a:prstGeom prst="roundRect">
              <a:avLst/>
            </a:prstGeom>
            <a:solidFill>
              <a:srgbClr val="176B87"/>
            </a:solidFill>
            <a:ln w="50800">
              <a:solidFill>
                <a:srgbClr val="0F4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Sobel</a:t>
              </a:r>
              <a:r>
                <a:rPr lang="zh-CN" altLang="en-US" dirty="0"/>
                <a:t>算子</a:t>
              </a:r>
              <a:endParaRPr lang="en-US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26D5110-BC25-008B-5E94-CD71B7A6D219}"/>
                </a:ext>
              </a:extLst>
            </p:cNvPr>
            <p:cNvCxnSpPr>
              <a:stCxn id="49" idx="3"/>
              <a:endCxn id="23" idx="1"/>
            </p:cNvCxnSpPr>
            <p:nvPr/>
          </p:nvCxnSpPr>
          <p:spPr>
            <a:xfrm>
              <a:off x="20039364" y="14785507"/>
              <a:ext cx="734066" cy="0"/>
            </a:xfrm>
            <a:prstGeom prst="straightConnector1">
              <a:avLst/>
            </a:prstGeom>
            <a:ln w="63500">
              <a:solidFill>
                <a:srgbClr val="176B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9259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</TotalTime>
  <Words>118</Words>
  <Application>Microsoft Office PowerPoint</Application>
  <PresentationFormat>Custom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宗锦 李</dc:creator>
  <cp:lastModifiedBy>宗锦 李</cp:lastModifiedBy>
  <cp:revision>13</cp:revision>
  <dcterms:created xsi:type="dcterms:W3CDTF">2026-08-24T08:24:29Z</dcterms:created>
  <dcterms:modified xsi:type="dcterms:W3CDTF">2026-08-30T10:32:39Z</dcterms:modified>
</cp:coreProperties>
</file>